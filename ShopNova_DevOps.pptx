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Bienvenidos. Mi nombre es Kevin Esteban Burgos Cobo, código estudiantil 2453710. En esta presentación les voy a mostrar la estrategia DevOps que diseñé para ShopNova, una aplicación web de e-commerce. Vamos a cubrir las herramientas para cada fase del ciclo de vida DevOps, las funcionalidades del software y el enfoque general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agenda de la presentación. Vamos a ver cinco bloques principales: primero qué es ShopNova y qué hace, luego una visión general del ciclo DevOps, después el detalle de cada fase y sus herramientas, un resumen del stack completo, y finalmente los datos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ShopNova es una aplicación web de e-commerce diseñada para PyMEs. Su objetivo es dar a los negocios una plataforma completa para vender en línea sin necesidad de infraestructura costosa. Las funcionalidades principales incluyen: catálogo de productos con búsqueda y filtros, carrito de compras con pasarela de pago, autenticación de usuarios, gestión de inventario y pedidos, un panel de administración con métricas, y notificaciones automáticas. Es una app full-stack con frontend, backend y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DevOps de ShopNova se divide en 7 fases. Fase uno: Planificación con Jira y Confluence para gestión de tareas y documentación. Fase dos: Desarrollo con VS Code, Git y GitHub para control de versiones. Fase tres: Build y Test con Maven, JUnit y Jest. Fase cuatro: CI/CD con GitHub Actions para automatizar la integración y entrega. Fase cinco: Despliegue usando Docker y AWS EC2. Fase seis: Monitoreo con Prometheus y Grafana. Y fase siete: Seguridad con SonarQube y OWASP ZAP. Todas estas fases forman un ciclo continuo.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fase de Planificación usamos tres herramientas. Jira es la principal: nos permite gestionar el backlog del producto, crear sprints de dos semanas, definir épicas e historias de usuario, y hacer seguimiento de bugs. Confluence lo usamos para documentación: ahí va la arquitectura del sistema, las decisiones técnicas y los runbooks de operaciones. Y GitHub Projects nos da un tablero Kanban integrado directamente con el código, lo que facilita vincular tareas con cambios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fase de Desarrollo usamos seis herramientas. VS Code como editor con extensiones clave. Git y GitHub para control de versiones, con un flujo GitFlow donde cada funcionalidad tiene su propia rama que se fusiona a develop y luego a main. El stack tecnológico es React 18 en el frontend, Node.js con Express en el backend, y PostgreSQL como base de datos. ESLint y Prettier garantizan calidad y consistencia del código. npm gestiona las dependencias. Y Postman para probar la API durante el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fases de Build, Test y CI/CD son el corazón del flujo DevOps. El pipeline es completamente automatizado con GitHub Actions. El flujo es el siguiente: un desarrollador hace push a GitHub, esto dispara automáticamente el workflow de Actions, Maven compila el proyecto, luego corren las pruebas con JUnit y Jest con un mínimo de 80% de cobertura, y si todo pasa, se construye y publica la imagen Docker. Esto garantiza que nunca llega código roto a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cubre las tres últimas fases. En Despliegue: usamos Docker para contenedorizar toda la aplicación, AWS EC2 para alojarla en la nube con alta disponibilidad, y Nginx como reverse proxy con SSL. En Monitoreo: Prometheus recoge métricas de la aplicación y Grafana las visualiza en dashboards con alertas configuradas para responder rápido a incidentes. En Seguridad: SonarQube analiza el código estático en busca de vulnerabilidades, y OWASP ZAP hace pruebas dinámicas de seguridad contra los ataques más comunes de la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resumen completo del stack tecnológico. Cada columna representa una fase del ciclo DevOps con sus herramientas. En Planificación: Jira, Confluence y GitHub Projects. En Desarrollo: VS Code, React, Node.js, PostgreSQL y Git. En CI/CD: GitHub Actions, Maven, JUnit y Jest. En Despliegue: Docker, AWS EC2 y Nginx. En Seguridad: SonarQube, OWASP ZAP y HTTPS. Y para Monitoreo: Prometheus y Grafana. Todas estas herramientas están integradas entre sí para formar un flujo completamente automatizado.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el equipo de trabajo es de un solo integrante: yo, Kevin Esteban Burgos Cobo, código 2453710. Confirmamos que el 100% del trabajo fue realizado por el integrante del equipo. Profe Fredy, muchas gracias por su atención. Quedo disponible para cualquier pregunta o aclaración sobre las herramientas o las decisiones de diseño que presenté.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2286000" cy="2286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00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ENTREGA 1 —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ShopNova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DevOps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inicial de herramientas, fases y despliegue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486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Esteban Burgos Cobo  |  Código: 2453710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|  Curso DevOps —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ShopNova?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funcionalidades del software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DevOps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0574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fases y sus herramientas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51176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054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detalladas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8072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→ Desarrollo → CI/CD → Seguridad → Monitoreo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00984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255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clave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557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completo con justificación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05079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 integración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3068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y cierre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ShopNova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" y="1463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ShopNova es una plataforma de e-commerce moderna que permite a pequeñas y medianas empresas vender productos en línea de forma ágil, segura y escalable.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34747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 Web Full-Stack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principales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749808"/>
            <a:ext cx="54864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914400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914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41648" y="91440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 con búsqueda y filtros avanzados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591056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93008" y="15910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41648" y="1591056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 y pasarela de pago integrada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267712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93008" y="22677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41648" y="226771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autenticación y perfiles de usuario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94436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29443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41648" y="2944368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 y seguimiento de pedidos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621024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93008" y="36210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41648" y="362102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con métricas de ventas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4297680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93008" y="42976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41648" y="429768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email y sistema de reseñas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DevOps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82296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01168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Planificación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32304" y="8686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2304" y="86868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868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Desarrollo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23744" y="12161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 + GitHub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0288" y="8686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868680"/>
            <a:ext cx="201168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868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Build &amp; 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81728" y="12161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JUnit + Jest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8272" y="8686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48272" y="868680"/>
            <a:ext cx="20116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868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CI/CD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9712" y="12161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248716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80160" y="2487168"/>
            <a:ext cx="201168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Despliegue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AWS EC2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248716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2487168"/>
            <a:ext cx="2011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Monitoreo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248716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0F9FF"/>
          </a:solidFill>
          <a:ln w="12700">
            <a:solidFill>
              <a:srgbClr val="D1E9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2487168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Seguridad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+ OWASP ZAP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4114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♾  Ciclo continuo de mejora e integración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D9F2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35608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6276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sprints, backlog, épicas, historias de usuario y seguimiento de bugs en metodología Scrum.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D9F2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24328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81635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colaborativa: arquitectura, decisiones de diseño, runbooks y wikis del proyecto.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D9F2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13048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639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00507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integrado con el repositorio para vincular issues con pull requests directamente.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898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197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54533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principal con extensiones para React, Node.js, Docker, GitLens y ESLint.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786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38658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73405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con rama main protegida. Flujo GitFlow: feature → develop → main.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6732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5753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React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92277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18 (frontend), Node.js/Express (backend), PostgreSQL (base de datos).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3898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1197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15453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 y formateo automático de código para mantener estilo consistente.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5786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/ Yarn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273405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dependencias y scripts de build para el proyecto.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BFE6F2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6732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35753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39227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de la API REST durante el desarrollo antes de las pruebas automatizadas.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03-04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Test &amp; CI/CD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 con GitHub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66544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9584" y="1691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67328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1691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8112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JUnit/Jest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1152" y="16916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68896" y="15087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68896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0F9FF"/>
          </a:solidFill>
          <a:ln w="12700">
            <a:solidFill>
              <a:srgbClr val="D4C2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578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todo el pipeline. Workflows en YAML que se ejecutan automáticamente en cada push o pull request a las ramas protegidas.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5146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0F9FF"/>
          </a:solidFill>
          <a:ln w="12700">
            <a:solidFill>
              <a:srgbClr val="D4C2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578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JUnit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compila el proyecto Java/Node y ejecuta las pruebas unitarias con JUnit 5. Cobertura mínima requerida: 80%.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0F9FF"/>
          </a:solidFill>
          <a:ln w="12700">
            <a:solidFill>
              <a:srgbClr val="D4C2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e integración del frontend en React y del API REST. Se ejecutan en paralelo para reducir tiempo de build.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F0F9FF"/>
          </a:solidFill>
          <a:ln w="12700">
            <a:solidFill>
              <a:srgbClr val="D4C2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023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pasar todos los tests, GitHub Actions construye la imagen Docker y la publica en Docker Hub automáticamente.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· Seguridad · Monitoreo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14400"/>
            <a:ext cx="2523744" cy="347472"/>
          </a:xfrm>
          <a:prstGeom prst="roundRect">
            <a:avLst>
              <a:gd name="adj" fmla="val 2105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144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DESPLIEGUE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4721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7647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Contenedorización de frontend, backend y base de datos. docker-compose para entorno local.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532888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58775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t3.medium para producción. Load Balancer para alta disponibilidad.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648456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703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9959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proxy, SSL/TLS y caché de assets estáticos.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914400"/>
            <a:ext cx="2523744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9144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MONITOREO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1417320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3008" y="14721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93008" y="17647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de métricas del servidor: CPU, memoria, latencia de endpoints.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532888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93008" y="258775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9300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tiempo real y alertas configurables por umbral.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0FD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7648" y="914400"/>
            <a:ext cx="2523744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9144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 SEGURIDAD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27648" y="1417320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9088" y="14721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17647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código: vulnerabilidades, code smells y deuda técnica.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27648" y="2532888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19088" y="258775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19088" y="288036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dinámico de seguridad web (DAST) contra el top 10 de OWASP.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completo de herramientas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72768" cy="4114800"/>
          </a:xfrm>
          <a:prstGeom prst="roundRect">
            <a:avLst>
              <a:gd name="adj" fmla="val 5814"/>
            </a:avLst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572768" cy="41148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Planificación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93392" y="822960"/>
            <a:ext cx="1572768" cy="4114800"/>
          </a:xfrm>
          <a:prstGeom prst="roundRect">
            <a:avLst>
              <a:gd name="adj" fmla="val 5814"/>
            </a:avLst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822960"/>
            <a:ext cx="1572768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822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Desarrollo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84832" y="137160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84832" y="196596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84832" y="256032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25603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84832" y="315468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315468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84832" y="374904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37490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12464" y="822960"/>
            <a:ext cx="1572768" cy="4114800"/>
          </a:xfrm>
          <a:prstGeom prst="roundRect">
            <a:avLst>
              <a:gd name="adj" fmla="val 5814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822960"/>
            <a:ext cx="1572768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822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03904" y="137160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03904" y="196596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03904" y="256032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25603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03904" y="315468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315468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31536" y="822960"/>
            <a:ext cx="1572768" cy="4114800"/>
          </a:xfrm>
          <a:prstGeom prst="roundRect">
            <a:avLst>
              <a:gd name="adj" fmla="val 5814"/>
            </a:avLst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31536" y="822960"/>
            <a:ext cx="1572768" cy="41148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822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Despliegue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22976" y="137160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22976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22976" y="196596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22976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22976" y="256032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22976" y="25603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50608" y="822960"/>
            <a:ext cx="1572768" cy="4114800"/>
          </a:xfrm>
          <a:prstGeom prst="roundRect">
            <a:avLst>
              <a:gd name="adj" fmla="val 5814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822960"/>
            <a:ext cx="1572768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8229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Seguridad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42048" y="137160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42048" y="196596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19659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42048" y="2560320"/>
            <a:ext cx="1389888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42048" y="25603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200400" y="44348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Monitoreo:  Prometheus  +  Grafana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&amp; Participación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05840"/>
            <a:ext cx="5120640" cy="2011680"/>
          </a:xfrm>
          <a:prstGeom prst="roundRect">
            <a:avLst>
              <a:gd name="adj" fmla="val 6818"/>
            </a:avLst>
          </a:prstGeom>
          <a:solidFill>
            <a:srgbClr val="112233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0" y="118872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Esteban Burgos Cobo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94560" y="2633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estudiantil: 2453710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20040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0A2E1A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00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Todos los miembros participaron en la elaboración de este entregable.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¡Gracias, profe Fredy!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bienvenidos.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DevOps - ShopNova</dc:title>
  <dc:subject>PptxGenJS Presentation</dc:subject>
  <dc:creator>PptxGenJS</dc:creator>
  <cp:lastModifiedBy>PptxGenJS</cp:lastModifiedBy>
  <cp:revision>1</cp:revision>
  <dcterms:created xsi:type="dcterms:W3CDTF">2026-06-12T21:15:19Z</dcterms:created>
  <dcterms:modified xsi:type="dcterms:W3CDTF">2026-06-12T21:15:19Z</dcterms:modified>
</cp:coreProperties>
</file>